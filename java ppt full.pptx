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1" r:id="rId5"/>
    <p:sldId id="260" r:id="rId6"/>
    <p:sldId id="262" r:id="rId7"/>
    <p:sldId id="263" r:id="rId8"/>
    <p:sldId id="264" r:id="rId9"/>
    <p:sldId id="265" r:id="rId10"/>
    <p:sldId id="266" r:id="rId11"/>
    <p:sldId id="271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41" autoAdjust="0"/>
    <p:restoredTop sz="94660"/>
  </p:normalViewPr>
  <p:slideViewPr>
    <p:cSldViewPr snapToGrid="0">
      <p:cViewPr varScale="1">
        <p:scale>
          <a:sx n="90" d="100"/>
          <a:sy n="90" d="100"/>
        </p:scale>
        <p:origin x="379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C5E9-0C40-4EE0-8C42-82E10E95D339}" type="datetimeFigureOut">
              <a:rPr lang="en-IN" smtClean="0"/>
              <a:pPr/>
              <a:t>20-06-2024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52C9C42-70B7-4DA4-B833-F0FEB228AA7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2149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C5E9-0C40-4EE0-8C42-82E10E95D339}" type="datetimeFigureOut">
              <a:rPr lang="en-IN" smtClean="0"/>
              <a:pPr/>
              <a:t>20-06-2024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9C42-70B7-4DA4-B833-F0FEB228AA7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3958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C5E9-0C40-4EE0-8C42-82E10E95D339}" type="datetimeFigureOut">
              <a:rPr lang="en-IN" smtClean="0"/>
              <a:pPr/>
              <a:t>20-06-2024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9C42-70B7-4DA4-B833-F0FEB228AA7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230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C5E9-0C40-4EE0-8C42-82E10E95D339}" type="datetimeFigureOut">
              <a:rPr lang="en-IN" smtClean="0"/>
              <a:pPr/>
              <a:t>20-06-2024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9C42-70B7-4DA4-B833-F0FEB228AA7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4945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C5E9-0C40-4EE0-8C42-82E10E95D339}" type="datetimeFigureOut">
              <a:rPr lang="en-IN" smtClean="0"/>
              <a:pPr/>
              <a:t>20-06-2024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9C42-70B7-4DA4-B833-F0FEB228AA7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591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C5E9-0C40-4EE0-8C42-82E10E95D339}" type="datetimeFigureOut">
              <a:rPr lang="en-IN" smtClean="0"/>
              <a:pPr/>
              <a:t>20-06-2024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9C42-70B7-4DA4-B833-F0FEB228AA7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4648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C5E9-0C40-4EE0-8C42-82E10E95D339}" type="datetimeFigureOut">
              <a:rPr lang="en-IN" smtClean="0"/>
              <a:pPr/>
              <a:t>20-06-2024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9C42-70B7-4DA4-B833-F0FEB228AA7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401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C5E9-0C40-4EE0-8C42-82E10E95D339}" type="datetimeFigureOut">
              <a:rPr lang="en-IN" smtClean="0"/>
              <a:pPr/>
              <a:t>20-06-2024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9C42-70B7-4DA4-B833-F0FEB228AA7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8942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EE9C5E9-0C40-4EE0-8C42-82E10E95D339}" type="datetimeFigureOut">
              <a:rPr lang="en-IN" smtClean="0"/>
              <a:pPr/>
              <a:t>20-06-2024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9C42-70B7-4DA4-B833-F0FEB228AA7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394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C5E9-0C40-4EE0-8C42-82E10E95D339}" type="datetimeFigureOut">
              <a:rPr lang="en-IN" smtClean="0"/>
              <a:pPr/>
              <a:t>20-06-2024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9C42-70B7-4DA4-B833-F0FEB228AA7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954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C5E9-0C40-4EE0-8C42-82E10E95D339}" type="datetimeFigureOut">
              <a:rPr lang="en-IN" smtClean="0"/>
              <a:pPr/>
              <a:t>20-06-2024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9C42-70B7-4DA4-B833-F0FEB228AA7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1990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9C5E9-0C40-4EE0-8C42-82E10E95D339}" type="datetimeFigureOut">
              <a:rPr lang="en-IN" smtClean="0"/>
              <a:pPr/>
              <a:t>20-06-2024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52C9C42-70B7-4DA4-B833-F0FEB228AA7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000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80427-203C-6333-45AE-E4E3AA9953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5400" dirty="0"/>
              <a:t>OOPS with java </a:t>
            </a:r>
            <a:br>
              <a:rPr lang="en-US" sz="5400" dirty="0"/>
            </a:br>
            <a:r>
              <a:rPr lang="en-US" sz="5400" dirty="0"/>
              <a:t>presentation on topic </a:t>
            </a:r>
            <a:br>
              <a:rPr lang="en-US" sz="5400" dirty="0"/>
            </a:br>
            <a:r>
              <a:rPr lang="en-US" sz="5400" dirty="0"/>
              <a:t>“</a:t>
            </a:r>
            <a:r>
              <a:rPr lang="en-US" sz="5400" b="1" dirty="0"/>
              <a:t>records” </a:t>
            </a:r>
            <a:r>
              <a:rPr lang="en-US" sz="5400" dirty="0"/>
              <a:t>and </a:t>
            </a:r>
            <a:r>
              <a:rPr lang="en-US" sz="5400" b="1" dirty="0"/>
              <a:t>“sealed classes</a:t>
            </a:r>
            <a:r>
              <a:rPr lang="en-US" sz="5400" dirty="0"/>
              <a:t>”</a:t>
            </a:r>
            <a:endParaRPr lang="en-IN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305DDB-670F-2E8D-8EEF-46C0C75AEF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2646" y="3572883"/>
            <a:ext cx="3263354" cy="2524498"/>
          </a:xfrm>
        </p:spPr>
        <p:txBody>
          <a:bodyPr>
            <a:normAutofit/>
          </a:bodyPr>
          <a:lstStyle/>
          <a:p>
            <a:r>
              <a:rPr lang="en-US" dirty="0"/>
              <a:t>presented By- </a:t>
            </a:r>
          </a:p>
          <a:p>
            <a:r>
              <a:rPr lang="en-US" dirty="0"/>
              <a:t>Kartik </a:t>
            </a:r>
            <a:r>
              <a:rPr lang="en-US" dirty="0" err="1"/>
              <a:t>verma</a:t>
            </a:r>
            <a:endParaRPr lang="en-US" dirty="0"/>
          </a:p>
          <a:p>
            <a:r>
              <a:rPr lang="en-US" dirty="0"/>
              <a:t>Kamakshi </a:t>
            </a:r>
            <a:r>
              <a:rPr lang="en-US" dirty="0" err="1"/>
              <a:t>verma</a:t>
            </a:r>
            <a:endParaRPr lang="en-US" dirty="0"/>
          </a:p>
          <a:p>
            <a:r>
              <a:rPr lang="en-US" dirty="0" err="1"/>
              <a:t>Kanhiya</a:t>
            </a:r>
            <a:r>
              <a:rPr lang="en-US" dirty="0"/>
              <a:t> </a:t>
            </a:r>
            <a:r>
              <a:rPr lang="en-US" dirty="0" err="1"/>
              <a:t>sharma</a:t>
            </a:r>
            <a:endParaRPr lang="en-US" dirty="0"/>
          </a:p>
          <a:p>
            <a:r>
              <a:rPr lang="en-US" dirty="0"/>
              <a:t>Karan </a:t>
            </a:r>
            <a:r>
              <a:rPr lang="en-US" dirty="0" err="1"/>
              <a:t>gupta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90FDCC-77D2-1B84-48AF-90DBEB70A737}"/>
              </a:ext>
            </a:extLst>
          </p:cNvPr>
          <p:cNvSpPr txBox="1"/>
          <p:nvPr/>
        </p:nvSpPr>
        <p:spPr>
          <a:xfrm>
            <a:off x="8049185" y="3589766"/>
            <a:ext cx="3005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SUBMITTED TO-</a:t>
            </a:r>
          </a:p>
          <a:p>
            <a:endParaRPr lang="en-US" dirty="0"/>
          </a:p>
          <a:p>
            <a:r>
              <a:rPr lang="en-US" dirty="0"/>
              <a:t>MR JITENDRA SINGH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6463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E66B0-075F-5E56-0A8D-3413A9DFB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</a:t>
            </a:r>
            <a:r>
              <a:rPr lang="en-IN" b="1" dirty="0"/>
              <a:t>Java Records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53F2E-1558-ED6B-67D2-BB3548879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What is a Record? :- </a:t>
            </a:r>
          </a:p>
          <a:p>
            <a:r>
              <a:rPr lang="en-US" dirty="0"/>
              <a:t>Introduced in Java 14 as a preview feature, officially released in Java 16.</a:t>
            </a:r>
          </a:p>
          <a:p>
            <a:r>
              <a:rPr lang="en-US" dirty="0"/>
              <a:t>A special kind of class designed to hold immutable data.</a:t>
            </a:r>
          </a:p>
          <a:p>
            <a:r>
              <a:rPr lang="en-IN" dirty="0"/>
              <a:t>Automatically generates the boiler plate code such as constructors , getters , equals(), </a:t>
            </a:r>
            <a:r>
              <a:rPr lang="en-IN" dirty="0" err="1"/>
              <a:t>hashCode</a:t>
            </a:r>
            <a:r>
              <a:rPr lang="en-IN" dirty="0"/>
              <a:t>() and </a:t>
            </a:r>
            <a:r>
              <a:rPr lang="en-IN" dirty="0" err="1"/>
              <a:t>toString</a:t>
            </a:r>
            <a:r>
              <a:rPr lang="en-IN" dirty="0"/>
              <a:t>() method.</a:t>
            </a:r>
          </a:p>
        </p:txBody>
      </p:sp>
    </p:spTree>
    <p:extLst>
      <p:ext uri="{BB962C8B-B14F-4D97-AF65-F5344CB8AC3E}">
        <p14:creationId xmlns:p14="http://schemas.microsoft.com/office/powerpoint/2010/main" val="3281114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DC70D-0B1F-7028-F5E0-DC41BE8C3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and example code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F9B44-F018-C351-B26D-DCD084223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97201"/>
          </a:xfrm>
        </p:spPr>
        <p:txBody>
          <a:bodyPr/>
          <a:lstStyle/>
          <a:p>
            <a:r>
              <a:rPr lang="en-US" dirty="0"/>
              <a:t>Basic syntax:- </a:t>
            </a:r>
          </a:p>
          <a:p>
            <a:endParaRPr lang="en-US" dirty="0"/>
          </a:p>
          <a:p>
            <a:r>
              <a:rPr lang="en-US" dirty="0"/>
              <a:t>Example- Suppose we make a record named person with 2 parameters:-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The automatically generated methods for the given record will be:-</a:t>
            </a:r>
          </a:p>
          <a:p>
            <a:pPr marL="0" indent="0">
              <a:buNone/>
            </a:pPr>
            <a:r>
              <a:rPr lang="en-IN" dirty="0"/>
              <a:t>    public String name()     </a:t>
            </a:r>
            <a:r>
              <a:rPr lang="en-US" dirty="0"/>
              <a:t>public </a:t>
            </a:r>
            <a:r>
              <a:rPr lang="en-US" dirty="0" err="1"/>
              <a:t>boolean</a:t>
            </a:r>
            <a:r>
              <a:rPr lang="en-US" dirty="0"/>
              <a:t> equals(Object o)     </a:t>
            </a:r>
            <a:r>
              <a:rPr lang="en-IN" dirty="0"/>
              <a:t>public String </a:t>
            </a:r>
            <a:r>
              <a:rPr lang="en-IN" dirty="0" err="1"/>
              <a:t>toString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    public int age()             public int </a:t>
            </a:r>
            <a:r>
              <a:rPr lang="en-IN" dirty="0" err="1"/>
              <a:t>hashCode</a:t>
            </a:r>
            <a:r>
              <a:rPr lang="en-IN" dirty="0"/>
              <a:t>()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E89FE1-9333-32FF-7CA6-12EB2778D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432" y="2015732"/>
            <a:ext cx="6163535" cy="6382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CAD39C-C953-5729-E732-AE520526A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5117" y="3608073"/>
            <a:ext cx="6393850" cy="68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308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6F831-D844-E5E7-4EE1-26C711DC9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and limitations of using records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0CD0E7-3C90-DD3B-BE21-0B641EE0F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7191" y="1459657"/>
            <a:ext cx="4645152" cy="801943"/>
          </a:xfrm>
        </p:spPr>
        <p:txBody>
          <a:bodyPr/>
          <a:lstStyle/>
          <a:p>
            <a:r>
              <a:rPr lang="en-US" dirty="0"/>
              <a:t>benefits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88DD6B-4E78-95CB-C9A1-1C086B867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1596" y="2289271"/>
            <a:ext cx="5656342" cy="3262741"/>
          </a:xfrm>
        </p:spPr>
        <p:txBody>
          <a:bodyPr>
            <a:normAutofit fontScale="77500" lnSpcReduction="20000"/>
          </a:bodyPr>
          <a:lstStyle/>
          <a:p>
            <a:r>
              <a:rPr lang="en-US" sz="2900" dirty="0"/>
              <a:t>Immutability</a:t>
            </a:r>
            <a:endParaRPr lang="en-IN" sz="2900" dirty="0"/>
          </a:p>
          <a:p>
            <a:pPr lvl="1"/>
            <a:r>
              <a:rPr lang="en-US" sz="2900" dirty="0"/>
              <a:t>Fields are final and cannot be changed after creation.</a:t>
            </a:r>
            <a:endParaRPr lang="en-IN" sz="2900" dirty="0"/>
          </a:p>
          <a:p>
            <a:r>
              <a:rPr lang="en-US" sz="2900" dirty="0"/>
              <a:t>Boilerplate Reduction</a:t>
            </a:r>
            <a:endParaRPr lang="en-US" sz="2900" b="1" dirty="0"/>
          </a:p>
          <a:p>
            <a:pPr lvl="1"/>
            <a:r>
              <a:rPr lang="en-US" sz="2900" dirty="0"/>
              <a:t>No need to manually write common methods.</a:t>
            </a:r>
          </a:p>
          <a:p>
            <a:r>
              <a:rPr lang="en-US" sz="2900" dirty="0"/>
              <a:t>Improved</a:t>
            </a:r>
            <a:r>
              <a:rPr lang="en-US" sz="2900" b="1" dirty="0"/>
              <a:t> </a:t>
            </a:r>
            <a:r>
              <a:rPr lang="en-US" sz="2900" dirty="0"/>
              <a:t>Readability</a:t>
            </a:r>
            <a:endParaRPr lang="en-US" sz="2900" b="1" dirty="0"/>
          </a:p>
          <a:p>
            <a:pPr lvl="1"/>
            <a:r>
              <a:rPr lang="en-US" sz="2900" dirty="0"/>
              <a:t>Clear and concise representation of data.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B2E2D4-9D0E-F9E3-FB97-A30E4DF19E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7254" y="1443701"/>
            <a:ext cx="4645152" cy="802237"/>
          </a:xfrm>
        </p:spPr>
        <p:txBody>
          <a:bodyPr/>
          <a:lstStyle/>
          <a:p>
            <a:r>
              <a:rPr lang="en-US" dirty="0"/>
              <a:t>limitations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BF425D-80F0-F6BD-2273-76BD7A7EAC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4808" y="2245938"/>
            <a:ext cx="4645152" cy="2637371"/>
          </a:xfrm>
        </p:spPr>
        <p:txBody>
          <a:bodyPr>
            <a:noAutofit/>
          </a:bodyPr>
          <a:lstStyle/>
          <a:p>
            <a:r>
              <a:rPr lang="en-IN" dirty="0"/>
              <a:t>No Inheritance</a:t>
            </a:r>
          </a:p>
          <a:p>
            <a:pPr lvl="1"/>
            <a:r>
              <a:rPr lang="en-US" dirty="0"/>
              <a:t>Records cannot extend other classes (but can implement interfaces).</a:t>
            </a:r>
          </a:p>
          <a:p>
            <a:r>
              <a:rPr lang="en-IN" dirty="0"/>
              <a:t>Immutability Constraints</a:t>
            </a:r>
            <a:endParaRPr lang="en-US" dirty="0"/>
          </a:p>
          <a:p>
            <a:pPr lvl="1"/>
            <a:r>
              <a:rPr lang="en-US" dirty="0"/>
              <a:t>All fields are final and cannot be reassigned.</a:t>
            </a:r>
          </a:p>
          <a:p>
            <a:r>
              <a:rPr lang="en-IN" dirty="0"/>
              <a:t>Suitability:</a:t>
            </a:r>
            <a:endParaRPr lang="en-US" dirty="0"/>
          </a:p>
          <a:p>
            <a:pPr lvl="1"/>
            <a:r>
              <a:rPr lang="en-US" dirty="0"/>
              <a:t>Best for simple data-carrying classes, not for complex business logic.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6691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9A54C-3124-7999-2981-7BE2E376D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24" y="867619"/>
            <a:ext cx="9603275" cy="1049235"/>
          </a:xfrm>
        </p:spPr>
        <p:txBody>
          <a:bodyPr/>
          <a:lstStyle/>
          <a:p>
            <a:r>
              <a:rPr lang="en-US" dirty="0"/>
              <a:t>Lets see the working of a record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AACB97-001E-3889-4193-9F92CE1A80D4}"/>
              </a:ext>
            </a:extLst>
          </p:cNvPr>
          <p:cNvSpPr txBox="1"/>
          <p:nvPr/>
        </p:nvSpPr>
        <p:spPr>
          <a:xfrm>
            <a:off x="1416899" y="2228671"/>
            <a:ext cx="403309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 we can see after declaring the</a:t>
            </a:r>
          </a:p>
          <a:p>
            <a:r>
              <a:rPr lang="en-US" dirty="0"/>
              <a:t>Record “Person”, how different methods </a:t>
            </a:r>
          </a:p>
          <a:p>
            <a:r>
              <a:rPr lang="en-US" dirty="0"/>
              <a:t>Gets automatically generated by the </a:t>
            </a:r>
          </a:p>
          <a:p>
            <a:r>
              <a:rPr lang="en-US" dirty="0"/>
              <a:t>Compiler and there usage.</a:t>
            </a:r>
            <a:endParaRPr lang="en-IN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279729A-A877-E3B7-30DF-C9C2D4608E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49991" y="1916854"/>
            <a:ext cx="5184143" cy="4017712"/>
          </a:xfrm>
        </p:spPr>
      </p:pic>
      <p:sp>
        <p:nvSpPr>
          <p:cNvPr id="11" name="Arrow: Striped Right 10">
            <a:extLst>
              <a:ext uri="{FF2B5EF4-FFF2-40B4-BE49-F238E27FC236}">
                <a16:creationId xmlns:a16="http://schemas.microsoft.com/office/drawing/2014/main" id="{4DFE0782-40DE-F4C9-6D5D-5CF2C8565DC3}"/>
              </a:ext>
            </a:extLst>
          </p:cNvPr>
          <p:cNvSpPr/>
          <p:nvPr/>
        </p:nvSpPr>
        <p:spPr>
          <a:xfrm>
            <a:off x="3928533" y="3550317"/>
            <a:ext cx="999067" cy="381000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1293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55DCF-7407-F143-7087-A8BBDE209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Record vs no record?? </a:t>
            </a:r>
            <a:br>
              <a:rPr lang="en-US" dirty="0"/>
            </a:br>
            <a:r>
              <a:rPr lang="en-US" dirty="0"/>
              <a:t>What’s the difference?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4A0E6C-8E2B-F8ED-8C17-00B5FFE8A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17" y="2034764"/>
            <a:ext cx="5477898" cy="40183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B952E0-FDCD-A41F-47CB-75D18C3DB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852" y="2625653"/>
            <a:ext cx="4895349" cy="5250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D912D2-5AD2-87B2-32B8-F86E9D07D570}"/>
              </a:ext>
            </a:extLst>
          </p:cNvPr>
          <p:cNvSpPr txBox="1"/>
          <p:nvPr/>
        </p:nvSpPr>
        <p:spPr>
          <a:xfrm>
            <a:off x="6510647" y="5359013"/>
            <a:ext cx="2928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Your hard work right here….</a:t>
            </a:r>
            <a:endParaRPr lang="en-IN" dirty="0"/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5D55C08C-0D77-89A2-1B6D-F0D626B998A3}"/>
              </a:ext>
            </a:extLst>
          </p:cNvPr>
          <p:cNvSpPr/>
          <p:nvPr/>
        </p:nvSpPr>
        <p:spPr>
          <a:xfrm>
            <a:off x="6002750" y="5442079"/>
            <a:ext cx="423333" cy="20320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71525A-E56A-B409-35A1-AEF7538BBC97}"/>
              </a:ext>
            </a:extLst>
          </p:cNvPr>
          <p:cNvSpPr txBox="1"/>
          <p:nvPr/>
        </p:nvSpPr>
        <p:spPr>
          <a:xfrm>
            <a:off x="9795934" y="3681011"/>
            <a:ext cx="1828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Literally one liner</a:t>
            </a:r>
            <a:endParaRPr lang="en-IN" dirty="0"/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FAFA02E2-05D1-0791-3E2C-088560BCFBBE}"/>
              </a:ext>
            </a:extLst>
          </p:cNvPr>
          <p:cNvSpPr/>
          <p:nvPr/>
        </p:nvSpPr>
        <p:spPr>
          <a:xfrm>
            <a:off x="10490154" y="3333878"/>
            <a:ext cx="220133" cy="347133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D70C186-815A-F49A-5837-385A963E2A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7924" y="3423361"/>
            <a:ext cx="1013222" cy="868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2471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26C8-0519-2C56-83ED-E1C097970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practical use cases of records:-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F6841-072C-0DB0-4049-CA59FA0D5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DTOs</a:t>
            </a:r>
            <a:r>
              <a:rPr lang="en-US" dirty="0"/>
              <a:t> (Data Transfer Objects)</a:t>
            </a:r>
          </a:p>
          <a:p>
            <a:pPr lvl="1"/>
            <a:r>
              <a:rPr lang="en-US" dirty="0"/>
              <a:t>Simplifies the creation of objects used to transfer data between layers.</a:t>
            </a:r>
          </a:p>
          <a:p>
            <a:r>
              <a:rPr lang="en-US" b="1" dirty="0"/>
              <a:t>Value Objects</a:t>
            </a:r>
          </a:p>
          <a:p>
            <a:pPr lvl="1"/>
            <a:r>
              <a:rPr lang="en-US" dirty="0"/>
              <a:t>Ideal for objects that represent a fixed set of data, such as coordinates, points, etc.</a:t>
            </a:r>
          </a:p>
          <a:p>
            <a:r>
              <a:rPr lang="en-US" b="1" dirty="0"/>
              <a:t>Configuration Objects</a:t>
            </a:r>
          </a:p>
          <a:p>
            <a:pPr lvl="1"/>
            <a:r>
              <a:rPr lang="en-US" dirty="0"/>
              <a:t>Can be used to store configuration settings that do not change.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6714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</a:t>
            </a:r>
            <a:r>
              <a:rPr lang="en-US" b="1" dirty="0"/>
              <a:t>SEALED CLASSES </a:t>
            </a:r>
            <a:r>
              <a:rPr lang="en-US" dirty="0"/>
              <a:t>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a sealed class?</a:t>
            </a:r>
            <a:br>
              <a:rPr lang="en-US" dirty="0"/>
            </a:br>
            <a:r>
              <a:rPr lang="en-US" dirty="0"/>
              <a:t> A new feature introduced in Java 15</a:t>
            </a:r>
          </a:p>
          <a:p>
            <a:r>
              <a:rPr lang="en-US" dirty="0"/>
              <a:t>Sealed classes are a new feature in Java that restricts which other classes or interfaces may extend or implement them.</a:t>
            </a:r>
          </a:p>
          <a:p>
            <a:r>
              <a:rPr lang="en-US" dirty="0"/>
              <a:t>Helps in creating more robust and maintainable class hierarchies.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SYNTAX AND EXAMPLE CODE FOR SEALED CLASSES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400" dirty="0"/>
              <a:t>Basic syntax :-</a:t>
            </a:r>
          </a:p>
          <a:p>
            <a:pPr>
              <a:buNone/>
            </a:pPr>
            <a:r>
              <a:rPr lang="en-US" sz="2400" dirty="0"/>
              <a:t>1. Use the sealed modifier.</a:t>
            </a:r>
          </a:p>
          <a:p>
            <a:pPr>
              <a:buNone/>
            </a:pPr>
            <a:r>
              <a:rPr lang="en-US" sz="2400" dirty="0"/>
              <a:t>2. Followed by the permits keyword to specify permitted subclasses. </a:t>
            </a:r>
          </a:p>
          <a:p>
            <a:endParaRPr lang="en-US" sz="2400" dirty="0"/>
          </a:p>
          <a:p>
            <a:r>
              <a:rPr lang="en-US" sz="2400" dirty="0"/>
              <a:t>Example of a sealed class :- </a:t>
            </a:r>
          </a:p>
          <a:p>
            <a:pPr>
              <a:buNone/>
            </a:pPr>
            <a:r>
              <a:rPr lang="en-US" sz="2400" dirty="0"/>
              <a:t>1. Shape is the sealed class.</a:t>
            </a:r>
          </a:p>
          <a:p>
            <a:pPr>
              <a:buNone/>
            </a:pPr>
            <a:r>
              <a:rPr lang="en-US" sz="2400" dirty="0"/>
              <a:t>2. Circle and Square are final classes.</a:t>
            </a:r>
          </a:p>
          <a:p>
            <a:pPr>
              <a:buNone/>
            </a:pPr>
            <a:r>
              <a:rPr lang="en-US" sz="2400" dirty="0"/>
              <a:t>3. Rectangle is non-sealed, meaning it can be further extended.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12E82B-0BAE-4209-3DF2-E88FDC81F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5370" y="2026748"/>
            <a:ext cx="7756630" cy="6185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C88C29-BCEB-B104-3478-FE49B2E44F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0716" y="3322532"/>
            <a:ext cx="5364138" cy="178028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3782" y="263738"/>
            <a:ext cx="9603275" cy="1193093"/>
          </a:xfrm>
        </p:spPr>
        <p:txBody>
          <a:bodyPr/>
          <a:lstStyle/>
          <a:p>
            <a:r>
              <a:rPr lang="en-US" dirty="0"/>
              <a:t>benefits and Limitations of sealed classes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4614390"/>
              </p:ext>
            </p:extLst>
          </p:nvPr>
        </p:nvGraphicFramePr>
        <p:xfrm>
          <a:off x="560362" y="1014767"/>
          <a:ext cx="11071275" cy="4982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40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6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0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688">
                <a:tc>
                  <a:txBody>
                    <a:bodyPr/>
                    <a:lstStyle/>
                    <a:p>
                      <a:r>
                        <a:rPr lang="en-US" b="1" dirty="0"/>
                        <a:t>Aspect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Benefits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Limitations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4220">
                <a:tc>
                  <a:txBody>
                    <a:bodyPr/>
                    <a:lstStyle/>
                    <a:p>
                      <a:r>
                        <a:rPr lang="en-US" b="1" dirty="0"/>
                        <a:t>Control Over Class Hierarchies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Provides better control over which classes can extend or implement them.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Restricts extensibility; only specified classes can extend the sealed class.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4220">
                <a:tc>
                  <a:txBody>
                    <a:bodyPr/>
                    <a:lstStyle/>
                    <a:p>
                      <a:r>
                        <a:rPr lang="en-US" b="1" dirty="0"/>
                        <a:t>Security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Enhances security by preventing unauthorized or unintended extensions.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8200">
                <a:tc>
                  <a:txBody>
                    <a:bodyPr/>
                    <a:lstStyle/>
                    <a:p>
                      <a:r>
                        <a:rPr lang="en-US" b="1" dirty="0"/>
                        <a:t>Complexity in Large Projects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 -                    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Managing sealed classes in large projects may introduce complexity.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4220">
                <a:tc>
                  <a:txBody>
                    <a:bodyPr/>
                    <a:lstStyle/>
                    <a:p>
                      <a:r>
                        <a:rPr lang="en-US" b="1" dirty="0"/>
                        <a:t>Compatibility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Might cause issues with existing libraries/frameworks that rely on open class hierarchies.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688">
                <a:tc>
                  <a:txBody>
                    <a:bodyPr/>
                    <a:lstStyle/>
                    <a:p>
                      <a:r>
                        <a:rPr lang="en-US" b="1" dirty="0"/>
                        <a:t>Performance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JVM optimizations can be made due to known class hierarchy, potentially improving runtime performance.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 </a:t>
                      </a:r>
                    </a:p>
                    <a:p>
                      <a:r>
                        <a:rPr lang="en-US" dirty="0"/>
                        <a:t>                     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2D7CB-033B-BEDD-24B7-3B4A26AE61C8}"/>
              </a:ext>
            </a:extLst>
          </p:cNvPr>
          <p:cNvSpPr txBox="1">
            <a:spLocks/>
          </p:cNvSpPr>
          <p:nvPr/>
        </p:nvSpPr>
        <p:spPr>
          <a:xfrm>
            <a:off x="1294362" y="241886"/>
            <a:ext cx="9603275" cy="82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LET’S SEE THE WORKING OF SEALED CLASSES!!!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76F06-6341-F7B5-4010-E467E97C2706}"/>
              </a:ext>
            </a:extLst>
          </p:cNvPr>
          <p:cNvSpPr txBox="1">
            <a:spLocks/>
          </p:cNvSpPr>
          <p:nvPr/>
        </p:nvSpPr>
        <p:spPr>
          <a:xfrm>
            <a:off x="108893" y="1068700"/>
            <a:ext cx="11127545" cy="443940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Animal class is defined as a sealed class using the </a:t>
            </a:r>
          </a:p>
          <a:p>
            <a:pPr marL="0" indent="0">
              <a:buNone/>
            </a:pPr>
            <a:r>
              <a:rPr lang="en-US" dirty="0"/>
              <a:t>   sealed keyword. </a:t>
            </a:r>
          </a:p>
          <a:p>
            <a:r>
              <a:rPr lang="en-US" dirty="0"/>
              <a:t>Dog and cat are the final classes that extends Animal.</a:t>
            </a:r>
          </a:p>
          <a:p>
            <a:r>
              <a:rPr lang="en-US" dirty="0"/>
              <a:t>It provides an implementation for the </a:t>
            </a:r>
            <a:r>
              <a:rPr lang="en-US" dirty="0" err="1"/>
              <a:t>makeSound</a:t>
            </a:r>
            <a:r>
              <a:rPr lang="en-US" dirty="0"/>
              <a:t>() method. </a:t>
            </a:r>
          </a:p>
          <a:p>
            <a:r>
              <a:rPr lang="en-US" dirty="0"/>
              <a:t>In the main class we create dog() and cat() instances.</a:t>
            </a:r>
          </a:p>
          <a:p>
            <a:r>
              <a:rPr lang="en-US" dirty="0"/>
              <a:t>It demonstrates polymorphism.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06E078-3E08-C1A9-148B-A00218B3A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510" y="997904"/>
            <a:ext cx="5227557" cy="486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712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6621" y="152586"/>
            <a:ext cx="9603275" cy="1049235"/>
          </a:xfrm>
        </p:spPr>
        <p:txBody>
          <a:bodyPr/>
          <a:lstStyle/>
          <a:p>
            <a:r>
              <a:rPr lang="en-US" dirty="0"/>
              <a:t>Let’s see what difference does </a:t>
            </a:r>
            <a:br>
              <a:rPr lang="en-US" dirty="0"/>
            </a:br>
            <a:r>
              <a:rPr lang="en-US" dirty="0"/>
              <a:t>sealed classes make in the code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9455102"/>
              </p:ext>
            </p:extLst>
          </p:nvPr>
        </p:nvGraphicFramePr>
        <p:xfrm>
          <a:off x="539262" y="1325880"/>
          <a:ext cx="11113476" cy="4206240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25964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25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44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141">
                <a:tc>
                  <a:txBody>
                    <a:bodyPr/>
                    <a:lstStyle/>
                    <a:p>
                      <a:r>
                        <a:rPr lang="en-US" dirty="0"/>
                        <a:t>`KEY</a:t>
                      </a:r>
                      <a:r>
                        <a:rPr lang="en-US" baseline="0" dirty="0"/>
                        <a:t> POINTS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WITH SEALED 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WITHOUT SEALED CLASSES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4094">
                <a:tc>
                  <a:txBody>
                    <a:bodyPr/>
                    <a:lstStyle/>
                    <a:p>
                      <a:r>
                        <a:rPr lang="en-US" dirty="0"/>
                        <a:t>Controlled Extension: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Only the specified classes (Dog and Cat) can extend Animal. This control prevents unauthorized or unexpected extensions.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Any class can extend Animal, potentially leading to an unintended or overly complex class hierarchy.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8535">
                <a:tc>
                  <a:txBody>
                    <a:bodyPr/>
                    <a:lstStyle/>
                    <a:p>
                      <a:r>
                        <a:rPr lang="en-US" dirty="0"/>
                        <a:t>Improved Security: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you restrict which classes can extend it, enhancing security by preventing unauthorized extensions.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There is no restriction on which classes can extend the base class, which might expose the class hierarchy to misuse.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7335">
                <a:tc>
                  <a:txBody>
                    <a:bodyPr/>
                    <a:lstStyle/>
                    <a:p>
                      <a:r>
                        <a:rPr lang="en-US" dirty="0"/>
                        <a:t>Enhanced Maintainability: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explicit control over the hierarchy makes the codebase easier to understand and maintain, as the permitted subclasses are clearly defined.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class hierarchy can become difficult to maintain as any class can extend the base class.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6135">
                <a:tc>
                  <a:txBody>
                    <a:bodyPr/>
                    <a:lstStyle/>
                    <a:p>
                      <a:r>
                        <a:rPr lang="en-US" dirty="0"/>
                        <a:t>Readability and Explicitness: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hierarchy is explicit, improving code readability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hierarchy can be implicit and unclear, especially in large codebases.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249" y="790453"/>
            <a:ext cx="10564837" cy="1024280"/>
          </a:xfrm>
        </p:spPr>
        <p:txBody>
          <a:bodyPr/>
          <a:lstStyle/>
          <a:p>
            <a:r>
              <a:rPr lang="en-US" dirty="0"/>
              <a:t>SOME PRACTICAL USES OF SEALED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505" y="2015732"/>
            <a:ext cx="11671495" cy="397710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Sealed classes are useful in </a:t>
            </a:r>
            <a:r>
              <a:rPr lang="en-US" b="1" dirty="0"/>
              <a:t>domain-driven design (DDD) </a:t>
            </a:r>
            <a:r>
              <a:rPr lang="en-US" dirty="0"/>
              <a:t>to model a fixed set of domain concepts that should not be extended arbitrarily.</a:t>
            </a:r>
          </a:p>
          <a:p>
            <a:r>
              <a:rPr lang="en-US" b="1" dirty="0"/>
              <a:t>State Machines</a:t>
            </a:r>
          </a:p>
          <a:p>
            <a:pPr lvl="1"/>
            <a:r>
              <a:rPr lang="en-US" dirty="0"/>
              <a:t>Sealed classes can represent states in a state machine, ensuring that only defined states are used.</a:t>
            </a:r>
          </a:p>
          <a:p>
            <a:r>
              <a:rPr lang="en-US" b="1" dirty="0"/>
              <a:t> API Design</a:t>
            </a:r>
          </a:p>
          <a:p>
            <a:pPr lvl="1"/>
            <a:r>
              <a:rPr lang="en-US" dirty="0"/>
              <a:t>When designing public APIs, controlling the extension of classes is crucial to maintain backward compatibility and ensure that only intended classes can be used by clients.</a:t>
            </a:r>
          </a:p>
          <a:p>
            <a:r>
              <a:rPr lang="en-US" b="1" dirty="0"/>
              <a:t>Role-Based Access Control</a:t>
            </a:r>
          </a:p>
          <a:p>
            <a:pPr lvl="1"/>
            <a:r>
              <a:rPr lang="en-US" dirty="0"/>
              <a:t>Sealed classes can enforce strict role hierarchies in access control systems, ensuring that only specific roles are defined and used.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THANKYOU!!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128</TotalTime>
  <Words>890</Words>
  <Application>Microsoft Office PowerPoint</Application>
  <PresentationFormat>Widescreen</PresentationFormat>
  <Paragraphs>118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Gill Sans MT</vt:lpstr>
      <vt:lpstr>Gallery</vt:lpstr>
      <vt:lpstr>OOPS with java  presentation on topic  “records” and “sealed classes”</vt:lpstr>
      <vt:lpstr>Introduction to Java Records</vt:lpstr>
      <vt:lpstr>Syntax and example code</vt:lpstr>
      <vt:lpstr>Benefits and limitations of using records</vt:lpstr>
      <vt:lpstr>Lets see the working of a record</vt:lpstr>
      <vt:lpstr>Record vs no record??  What’s the difference?</vt:lpstr>
      <vt:lpstr>Some practical use cases of records:-</vt:lpstr>
      <vt:lpstr>INTRODUCTION TO SEALED CLASSES IN JAVA</vt:lpstr>
      <vt:lpstr>BASIC SYNTAX AND EXAMPLE CODE FOR SEALED CLASSES</vt:lpstr>
      <vt:lpstr>benefits and Limitations of sealed classes</vt:lpstr>
      <vt:lpstr>PowerPoint Presentation</vt:lpstr>
      <vt:lpstr>Let’s see what difference does  sealed classes make in the code</vt:lpstr>
      <vt:lpstr>SOME PRACTICAL USES OF SEALED CLASSES</vt:lpstr>
      <vt:lpstr>THANKYOU!!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Oops with java presentation…</dc:title>
  <dc:creator>Kartik Verma</dc:creator>
  <cp:lastModifiedBy>Kartik Verma</cp:lastModifiedBy>
  <cp:revision>24</cp:revision>
  <dcterms:created xsi:type="dcterms:W3CDTF">2024-06-19T14:23:54Z</dcterms:created>
  <dcterms:modified xsi:type="dcterms:W3CDTF">2024-06-20T17:55:40Z</dcterms:modified>
</cp:coreProperties>
</file>